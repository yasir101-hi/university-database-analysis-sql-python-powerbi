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492e16e1e4757" /><Relationship Type="http://schemas.openxmlformats.org/officeDocument/2006/relationships/extended-properties" Target="/docProps/app.xml" Id="Rffbef723f8924f0e" /><Relationship Type="http://schemas.openxmlformats.org/officeDocument/2006/relationships/officeDocument" Target="/ppt/presentation.xml" Id="Rd685e221c51746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743928e30a4488"/>
  </p:sldMasterIdLst>
  <p:notesMasterIdLst>
    <p:notesMasterId xmlns:r="http://schemas.openxmlformats.org/officeDocument/2006/relationships" r:id="R8a9a87535d7046c3"/>
  </p:notesMasterIdLst>
  <p:sldIdLst>
    <p:sldId xmlns:r="http://schemas.openxmlformats.org/officeDocument/2006/relationships" id="256" r:id="R165e965d881b46f6"/>
    <p:sldId xmlns:r="http://schemas.openxmlformats.org/officeDocument/2006/relationships" id="257" r:id="R9e1c41a245fc45b9"/>
    <p:sldId xmlns:r="http://schemas.openxmlformats.org/officeDocument/2006/relationships" id="258" r:id="R89c0968aa2024b8f"/>
    <p:sldId xmlns:r="http://schemas.openxmlformats.org/officeDocument/2006/relationships" id="259" r:id="R33c89dc335ad43d0"/>
    <p:sldId xmlns:r="http://schemas.openxmlformats.org/officeDocument/2006/relationships" id="260" r:id="R5acb899c169a499c"/>
    <p:sldId xmlns:r="http://schemas.openxmlformats.org/officeDocument/2006/relationships" id="261" r:id="R111984bd67874126"/>
    <p:sldId xmlns:r="http://schemas.openxmlformats.org/officeDocument/2006/relationships" id="262" r:id="R696d7898fb974aa7"/>
    <p:sldId xmlns:r="http://schemas.openxmlformats.org/officeDocument/2006/relationships" id="263" r:id="R83265db150a64835"/>
    <p:sldId xmlns:r="http://schemas.openxmlformats.org/officeDocument/2006/relationships" id="264" r:id="Rf8f1727c71644da2"/>
    <p:sldId xmlns:r="http://schemas.openxmlformats.org/officeDocument/2006/relationships" id="265" r:id="R6eed2b21978549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f0738180134bda" /><Relationship Type="http://schemas.openxmlformats.org/officeDocument/2006/relationships/slideMaster" Target="/ppt/slideMasters/slideMaster1.xml" Id="R7f743928e30a4488" /><Relationship Type="http://schemas.openxmlformats.org/officeDocument/2006/relationships/notesMaster" Target="/ppt/notesMasters/notesMaster1.xml" Id="R8a9a87535d7046c3" /><Relationship Type="http://schemas.openxmlformats.org/officeDocument/2006/relationships/presProps" Target="/ppt/presProps.xml" Id="R2c92580d3e2c4362" /><Relationship Type="http://schemas.openxmlformats.org/officeDocument/2006/relationships/viewProps" Target="/ppt/viewProps.xml" Id="Rfa635d1a40f541a8" /><Relationship Type="http://schemas.openxmlformats.org/officeDocument/2006/relationships/tableStyles" Target="/ppt/tableStyles.xml" Id="R0d0b89e602c3412b" /><Relationship Type="http://schemas.microsoft.com/office/2018/10/relationships/authors" Target="/ppt/authors.xml" Id="R68e9418fd0224c3f" /><Relationship Type="http://schemas.openxmlformats.org/officeDocument/2006/relationships/slide" Target="/ppt/slides/slide1.xml" Id="R165e965d881b46f6" /><Relationship Type="http://schemas.openxmlformats.org/officeDocument/2006/relationships/slide" Target="/ppt/slides/slide2.xml" Id="R9e1c41a245fc45b9" /><Relationship Type="http://schemas.openxmlformats.org/officeDocument/2006/relationships/slide" Target="/ppt/slides/slide3.xml" Id="R89c0968aa2024b8f" /><Relationship Type="http://schemas.openxmlformats.org/officeDocument/2006/relationships/slide" Target="/ppt/slides/slide4.xml" Id="R33c89dc335ad43d0" /><Relationship Type="http://schemas.openxmlformats.org/officeDocument/2006/relationships/slide" Target="/ppt/slides/slide5.xml" Id="R5acb899c169a499c" /><Relationship Type="http://schemas.openxmlformats.org/officeDocument/2006/relationships/slide" Target="/ppt/slides/slide6.xml" Id="R111984bd67874126" /><Relationship Type="http://schemas.openxmlformats.org/officeDocument/2006/relationships/slide" Target="/ppt/slides/slide7.xml" Id="R696d7898fb974aa7" /><Relationship Type="http://schemas.openxmlformats.org/officeDocument/2006/relationships/slide" Target="/ppt/slides/slide8.xml" Id="R83265db150a64835" /><Relationship Type="http://schemas.openxmlformats.org/officeDocument/2006/relationships/slide" Target="/ppt/slides/slide9.xml" Id="Rf8f1727c71644da2" /><Relationship Type="http://schemas.openxmlformats.org/officeDocument/2006/relationships/slide" Target="/ppt/slides/slide10.xml" Id="R6eed2b21978549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bfe83741f1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Universal Color Bloc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90b811e5f14474" /><Relationship Type="http://schemas.openxmlformats.org/officeDocument/2006/relationships/notesMaster" Target="/ppt/notesMasters/notesMaster1.xml" Id="R542e445978d545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191ff3dd74b90" /><Relationship Type="http://schemas.openxmlformats.org/officeDocument/2006/relationships/notesMaster" Target="/ppt/notesMasters/notesMaster1.xml" Id="Ra48836c3abaf40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fdc2e0836544f1" /><Relationship Type="http://schemas.openxmlformats.org/officeDocument/2006/relationships/notesMaster" Target="/ppt/notesMasters/notesMaster1.xml" Id="Rfee41f892f6347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084484b1ce407f" /><Relationship Type="http://schemas.openxmlformats.org/officeDocument/2006/relationships/notesMaster" Target="/ppt/notesMasters/notesMaster1.xml" Id="R31abaeb1ed7549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15925121ac4664" /><Relationship Type="http://schemas.openxmlformats.org/officeDocument/2006/relationships/notesMaster" Target="/ppt/notesMasters/notesMaster1.xml" Id="R7ac27ede9ee147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6e2701c3354376" /><Relationship Type="http://schemas.openxmlformats.org/officeDocument/2006/relationships/notesMaster" Target="/ppt/notesMasters/notesMaster1.xml" Id="Rcbc6a17f335149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0d35f077d549e2" /><Relationship Type="http://schemas.openxmlformats.org/officeDocument/2006/relationships/notesMaster" Target="/ppt/notesMasters/notesMaster1.xml" Id="R6e4ec67df94e45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c7b06345dc48c8" /><Relationship Type="http://schemas.openxmlformats.org/officeDocument/2006/relationships/notesMaster" Target="/ppt/notesMasters/notesMaster1.xml" Id="R4fe50c50840040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26d3b13be94442" /><Relationship Type="http://schemas.openxmlformats.org/officeDocument/2006/relationships/notesMaster" Target="/ppt/notesMasters/notesMaster1.xml" Id="Rf3b177eaa54d44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c53af7a75541a7" /><Relationship Type="http://schemas.openxmlformats.org/officeDocument/2006/relationships/notesMaster" Target="/ppt/notesMasters/notesMaster1.xml" Id="R52ee2efb244745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64c24a2f343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3fb7e8e0d46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704d67e2448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ceaba435345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0d941ee9d4e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b5202afcc415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c055502d440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c3eb1215b4f6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edb9e3e354a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8cab0c8064d2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746" y="4960030"/>
            <a:ext cx="1551214" cy="1551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" y="4571999"/>
            <a:ext cx="1118508" cy="1118508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Freeform 8">
            <a:extLst xmlns:a="http://schemas.openxmlformats.org/drawingml/2006/main"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" y="5739492"/>
            <a:ext cx="1118508" cy="1118508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FBF1E52-11FA-DC48-B7AD-7573423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9627596" y="597199"/>
            <a:ext cx="3165022" cy="1963786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850B620-49F5-3748-84AF-682555D5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V="1">
            <a:off x="7663809" y="597199"/>
            <a:ext cx="3165022" cy="1963786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1"/>
            <a:ext cx="1167493" cy="1167493"/>
          </a:xfrm>
          <a:custGeom xmlns:a="http://schemas.openxmlformats.org/drawingml/2006/main"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4507" y="4580708"/>
            <a:ext cx="1167493" cy="2277292"/>
          </a:xfrm>
          <a:custGeom xmlns:a="http://schemas.openxmlformats.org/drawingml/2006/main"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67493" y="232913"/>
            <a:ext cx="7096933" cy="383013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60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3">
            <a:extLst xmlns:a="http://schemas.openxmlformats.org/drawingml/2006/main"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1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4">
            <a:extLst xmlns:a="http://schemas.openxmlformats.org/drawingml/2006/main"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3246896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" y="0"/>
            <a:ext cx="933856" cy="933856"/>
          </a:xfrm>
          <a:custGeom xmlns:a="http://schemas.openxmlformats.org/drawingml/2006/main"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6">
            <a:extLst xmlns:a="http://schemas.openxmlformats.org/drawingml/2006/main">
              <a:ext uri="{FF2B5EF4-FFF2-40B4-BE49-F238E27FC236}">
                <a16:creationId xmlns:a16="http://schemas.microsoft.com/office/drawing/2014/main" id="{55C37C19-F268-4A43-A0D4-3B1B38D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8627829" y="5831356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E4F760E5-9D5D-E44F-AEBF-20CA8DE8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V="1">
            <a:off x="7841639" y="5831356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58864" y="102021"/>
            <a:ext cx="9779183" cy="1744415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>
              <a:buNone/>
              <a:defRPr sz="4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158865" y="2017467"/>
            <a:ext cx="9779182" cy="336681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810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9/8/20XX</a:t>
            </a:r>
          </a:p>
        </p:txBody>
      </p:sp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153276" y="6356350"/>
            <a:ext cx="165772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294A09A9-5501-47C1-A89A-A340965A2BE2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3">
            <a:extLst xmlns:a="http://schemas.openxmlformats.org/drawingml/2006/main"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80896" y="1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4">
            <a:extLst xmlns:a="http://schemas.openxmlformats.org/drawingml/2006/main"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80896" y="3246896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1" y="0"/>
            <a:ext cx="933856" cy="933856"/>
          </a:xfrm>
          <a:custGeom xmlns:a="http://schemas.openxmlformats.org/drawingml/2006/main"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6">
            <a:extLst xmlns:a="http://schemas.openxmlformats.org/drawingml/2006/main">
              <a:ext uri="{FF2B5EF4-FFF2-40B4-BE49-F238E27FC236}">
                <a16:creationId xmlns:a16="http://schemas.microsoft.com/office/drawing/2014/main" id="{55C37C19-F268-4A43-A0D4-3B1B38D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V="1">
            <a:off x="-8627829" y="5831356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E4F760E5-9D5D-E44F-AEBF-20CA8DE8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1">
            <a:off x="-7841639" y="5831356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67492" y="1371600"/>
            <a:ext cx="5486400" cy="41148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60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183438" y="1168400"/>
            <a:ext cx="4500562" cy="452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810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9/8/20XX</a:t>
            </a:r>
          </a:p>
        </p:txBody>
      </p:sp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153276" y="6356350"/>
            <a:ext cx="165772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294A09A9-5501-47C1-A89A-A340965A2BE2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3">
            <a:extLst xmlns:a="http://schemas.openxmlformats.org/drawingml/2006/main"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1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4">
            <a:extLst xmlns:a="http://schemas.openxmlformats.org/drawingml/2006/main"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3246896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" y="0"/>
            <a:ext cx="933856" cy="933856"/>
          </a:xfrm>
          <a:custGeom xmlns:a="http://schemas.openxmlformats.org/drawingml/2006/main"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6">
            <a:extLst xmlns:a="http://schemas.openxmlformats.org/drawingml/2006/main">
              <a:ext uri="{FF2B5EF4-FFF2-40B4-BE49-F238E27FC236}">
                <a16:creationId xmlns:a16="http://schemas.microsoft.com/office/drawing/2014/main" id="{55C37C19-F268-4A43-A0D4-3B1B38D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8627829" y="5831356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E4F760E5-9D5D-E44F-AEBF-20CA8DE8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V="1">
            <a:off x="7841639" y="5831356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943600" y="457200"/>
            <a:ext cx="5120640" cy="320040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>
              <a:buNone/>
              <a:defRPr sz="60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943598" y="3657600"/>
            <a:ext cx="5120640" cy="18288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l">
              <a:buNone/>
              <a:defRPr sz="3200"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904238" y="1157224"/>
            <a:ext cx="4500562" cy="452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810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9/8/20XX</a:t>
            </a:r>
          </a:p>
        </p:txBody>
      </p:sp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153276" y="6356350"/>
            <a:ext cx="165772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294A09A9-5501-47C1-A89A-A340965A2BE2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itle and content 2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286002"/>
            <a:ext cx="12208822" cy="457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97718" y="3246896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" y="0"/>
            <a:ext cx="933856" cy="933856"/>
          </a:xfrm>
          <a:custGeom xmlns:a="http://schemas.openxmlformats.org/drawingml/2006/main"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10344100" y="438098"/>
            <a:ext cx="2285999" cy="1409801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67492" y="45085"/>
            <a:ext cx="9779183" cy="1600835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>
              <a:buNone/>
              <a:defRPr sz="4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1166087" y="2652713"/>
            <a:ext cx="9780587" cy="343693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342900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566928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850392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1097280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1371600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9/8/20XX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206318" y="6356350"/>
            <a:ext cx="1604682" cy="3651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294A09A9-5501-47C1-A89A-A340965A2BE2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025490" cy="6858000"/>
          </a:xfrm>
          <a:custGeom xmlns:a="http://schemas.openxmlformats.org/drawingml/2006/main"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FBF1E52-11FA-DC48-B7AD-7573423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9338986" y="2670913"/>
            <a:ext cx="2443610" cy="1516175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850B620-49F5-3748-84AF-682555D5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V="1">
            <a:off x="7822811" y="2670913"/>
            <a:ext cx="2443610" cy="1516175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1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3246896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67494" y="177553"/>
            <a:ext cx="6245912" cy="3269447"/>
          </a:xfrm>
        </p:spPr>
        <p:txBody>
          <a:bodyPr xmlns:a="http://schemas.openxmlformats.org/drawingml/2006/main" bIns="0" anchor="b">
            <a:noAutofit/>
          </a:bodyPr>
          <a:lstStyle xmlns:a="http://schemas.openxmlformats.org/drawingml/2006/main">
            <a:lvl1pPr algn="l">
              <a:buNone/>
              <a:defRPr sz="6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167494" y="3492896"/>
            <a:ext cx="6245912" cy="9128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3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3">
            <a:extLst xmlns:a="http://schemas.openxmlformats.org/drawingml/2006/main"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1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4">
            <a:extLst xmlns:a="http://schemas.openxmlformats.org/drawingml/2006/main"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3246896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" y="0"/>
            <a:ext cx="933856" cy="933856"/>
          </a:xfrm>
          <a:custGeom xmlns:a="http://schemas.openxmlformats.org/drawingml/2006/main"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6">
            <a:extLst xmlns:a="http://schemas.openxmlformats.org/drawingml/2006/main">
              <a:ext uri="{FF2B5EF4-FFF2-40B4-BE49-F238E27FC236}">
                <a16:creationId xmlns:a16="http://schemas.microsoft.com/office/drawing/2014/main" id="{55C37C19-F268-4A43-A0D4-3B1B38D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8627829" y="5831356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E4F760E5-9D5D-E44F-AEBF-20CA8DE8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V="1">
            <a:off x="7841639" y="5831356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67492" y="136526"/>
            <a:ext cx="9601200" cy="1653371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>
              <a:buNone/>
              <a:defRPr sz="4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167493" y="2023984"/>
            <a:ext cx="4663440" cy="33328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spcBef>
                <a:spcPts val="1000"/>
              </a:spcBef>
              <a:buNone/>
              <a:defRPr sz="2000">
                <a:latin typeface="+mn-lt"/>
                <a:ea typeface="+mn-lt"/>
                <a:cs typeface="+mn-lt"/>
              </a:defRPr>
            </a:lvl1pPr>
            <a:lvl2pPr marL="283464" indent="-283464">
              <a:spcBef>
                <a:spcPts val="1000"/>
              </a:spcBef>
              <a:buChar char="•"/>
              <a:defRPr sz="2000">
                <a:latin typeface="+mn-lt"/>
                <a:ea typeface="+mn-lt"/>
                <a:cs typeface="+mn-lt"/>
              </a:defRPr>
            </a:lvl2pPr>
            <a:lvl3pPr marL="566928" indent="-283464">
              <a:spcBef>
                <a:spcPts val="1000"/>
              </a:spcBef>
              <a:buChar char="•"/>
              <a:defRPr sz="2000">
                <a:latin typeface="+mn-lt"/>
                <a:ea typeface="+mn-lt"/>
                <a:cs typeface="+mn-lt"/>
              </a:defRPr>
            </a:lvl3pPr>
            <a:lvl4pPr marL="850392" indent="-283464">
              <a:spcBef>
                <a:spcPts val="1000"/>
              </a:spcBef>
              <a:buChar char="•"/>
              <a:defRPr sz="2000">
                <a:latin typeface="+mn-lt"/>
                <a:ea typeface="+mn-lt"/>
                <a:cs typeface="+mn-lt"/>
              </a:defRPr>
            </a:lvl4pPr>
            <a:lvl5pPr marL="1133856" indent="-283464">
              <a:spcBef>
                <a:spcPts val="1000"/>
              </a:spcBef>
              <a:buChar char="•"/>
              <a:defRPr sz="20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6283235" y="2023984"/>
            <a:ext cx="4663440" cy="33328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spcBef>
                <a:spcPts val="1000"/>
              </a:spcBef>
              <a:buNone/>
              <a:defRPr sz="2000">
                <a:latin typeface="+mn-lt"/>
                <a:ea typeface="+mn-lt"/>
                <a:cs typeface="+mn-lt"/>
              </a:defRPr>
            </a:lvl1pPr>
            <a:lvl2pPr marL="283464" indent="-283464">
              <a:spcBef>
                <a:spcPts val="1000"/>
              </a:spcBef>
              <a:buChar char="•"/>
              <a:defRPr sz="2000">
                <a:latin typeface="+mn-lt"/>
                <a:ea typeface="+mn-lt"/>
                <a:cs typeface="+mn-lt"/>
              </a:defRPr>
            </a:lvl2pPr>
            <a:lvl3pPr marL="566928" indent="-283464">
              <a:spcBef>
                <a:spcPts val="1000"/>
              </a:spcBef>
              <a:buChar char="•"/>
              <a:defRPr sz="2000">
                <a:latin typeface="+mn-lt"/>
                <a:ea typeface="+mn-lt"/>
                <a:cs typeface="+mn-lt"/>
              </a:defRPr>
            </a:lvl3pPr>
            <a:lvl4pPr marL="850392" indent="-283464">
              <a:spcBef>
                <a:spcPts val="1000"/>
              </a:spcBef>
              <a:buChar char="•"/>
              <a:defRPr sz="2000">
                <a:latin typeface="+mn-lt"/>
                <a:ea typeface="+mn-lt"/>
                <a:cs typeface="+mn-lt"/>
              </a:defRPr>
            </a:lvl4pPr>
            <a:lvl5pPr marL="1133856" indent="-283464">
              <a:spcBef>
                <a:spcPts val="1000"/>
              </a:spcBef>
              <a:buChar char="•"/>
              <a:defRPr sz="20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810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9/8/20XX</a:t>
            </a:r>
          </a:p>
        </p:txBody>
      </p:sp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153276" y="6356350"/>
            <a:ext cx="165772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294A09A9-5501-47C1-A89A-A340965A2BE2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itle and 2 content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3">
            <a:extLst xmlns:a="http://schemas.openxmlformats.org/drawingml/2006/main"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8580896" y="1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4">
            <a:extLst xmlns:a="http://schemas.openxmlformats.org/drawingml/2006/main"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1" y="3246896"/>
            <a:ext cx="3611104" cy="3611104"/>
          </a:xfrm>
          <a:custGeom xmlns:a="http://schemas.openxmlformats.org/drawingml/2006/main"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67492" y="69008"/>
            <a:ext cx="9779183" cy="170656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>
              <a:buNone/>
              <a:defRPr sz="42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1167493" y="2023984"/>
            <a:ext cx="4663440" cy="33328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530352" indent="-530352">
              <a:spcBef>
                <a:spcPts val="1000"/>
              </a:spcBef>
              <a:buAutoNum type="arabicPeriod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1097280" indent="-530352">
              <a:spcBef>
                <a:spcPts val="1000"/>
              </a:spcBef>
              <a:buAutoNum type="alphaLcPeriod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1645920" indent="-530352">
              <a:spcBef>
                <a:spcPts val="1000"/>
              </a:spcBef>
              <a:buAutoNum type="arabicParenR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1920240" indent="-530352">
              <a:spcBef>
                <a:spcPts val="1000"/>
              </a:spcBef>
              <a:buAutoNum type="alphaLcParenR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2560320" indent="-514350">
              <a:spcBef>
                <a:spcPts val="1000"/>
              </a:spcBef>
              <a:buAutoNum type="romanLcPeriod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6283235" y="2023984"/>
            <a:ext cx="4663440" cy="33328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spcBef>
                <a:spcPts val="1000"/>
              </a:spcBef>
              <a:buNone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283464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566928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850392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1133856" indent="-283464">
              <a:spcBef>
                <a:spcPts val="1000"/>
              </a:spcBef>
              <a:buChar char="•"/>
              <a:defRPr sz="20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81000" y="6356350"/>
            <a:ext cx="1701018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9/8/20XX</a:t>
            </a:r>
          </a:p>
        </p:txBody>
      </p:sp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153276" y="6356350"/>
            <a:ext cx="165772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294A09A9-5501-47C1-A89A-A340965A2BE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" preserve="1">
  <p:cSld name="Chart 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01D8067-144A-FE48-AF1E-529B662D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11317999" y="393094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ECA7D87-C78C-C140-AA28-C0FB2020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V="1">
            <a:off x="10531809" y="393094"/>
            <a:ext cx="1267097" cy="78618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67492" y="136526"/>
            <a:ext cx="9779183" cy="157003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>
              <a:buNone/>
              <a:defRPr sz="4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167493" y="2084832"/>
            <a:ext cx="9779182" cy="33668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81000" y="6356350"/>
            <a:ext cx="1701018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9/8/20XX</a:t>
            </a:r>
          </a:p>
        </p:txBody>
      </p:sp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1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153276" y="6356350"/>
            <a:ext cx="165772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294A09A9-5501-47C1-A89A-A340965A2BE2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4426" y="0"/>
            <a:ext cx="392757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FBF1E52-11FA-DC48-B7AD-7573423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1">
            <a:off x="9627596" y="4289182"/>
            <a:ext cx="3165022" cy="197236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850B620-49F5-3748-84AF-682555D5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V="1">
            <a:off x="7663809" y="4289182"/>
            <a:ext cx="3165022" cy="1972369"/>
          </a:xfrm>
          <a:custGeom xmlns:a="http://schemas.openxmlformats.org/drawingml/2006/main"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1"/>
            <a:ext cx="1167493" cy="1167493"/>
          </a:xfrm>
          <a:custGeom xmlns:a="http://schemas.openxmlformats.org/drawingml/2006/main"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8214" y="-1"/>
            <a:ext cx="1963787" cy="3178856"/>
          </a:xfrm>
          <a:custGeom xmlns:a="http://schemas.openxmlformats.org/drawingml/2006/main"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67494" y="252549"/>
            <a:ext cx="6220278" cy="3262811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60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167493" y="3685939"/>
            <a:ext cx="6220277" cy="291951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2800"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a3aadd0b648be" /><Relationship Type="http://schemas.openxmlformats.org/officeDocument/2006/relationships/slideLayout" Target="/ppt/slideLayouts/slideLayout1.xml" Id="R0ba544095d80497c" /><Relationship Type="http://schemas.openxmlformats.org/officeDocument/2006/relationships/slideLayout" Target="/ppt/slideLayouts/slideLayout2.xml" Id="Rf6d7f48e670d4773" /><Relationship Type="http://schemas.openxmlformats.org/officeDocument/2006/relationships/slideLayout" Target="/ppt/slideLayouts/slideLayout3.xml" Id="R3883721943964a95" /><Relationship Type="http://schemas.openxmlformats.org/officeDocument/2006/relationships/slideLayout" Target="/ppt/slideLayouts/slideLayout4.xml" Id="Rb87dc8c4c0304d4c" /><Relationship Type="http://schemas.openxmlformats.org/officeDocument/2006/relationships/slideLayout" Target="/ppt/slideLayouts/slideLayout5.xml" Id="Rc65f67f2aa5e4a81" /><Relationship Type="http://schemas.openxmlformats.org/officeDocument/2006/relationships/slideLayout" Target="/ppt/slideLayouts/slideLayout6.xml" Id="R7acd2e2c107b4a26" /><Relationship Type="http://schemas.openxmlformats.org/officeDocument/2006/relationships/slideLayout" Target="/ppt/slideLayouts/slideLayout7.xml" Id="Rbe7c7940cf56408a" /><Relationship Type="http://schemas.openxmlformats.org/officeDocument/2006/relationships/slideLayout" Target="/ppt/slideLayouts/slideLayout8.xml" Id="R1349988dce094554" /><Relationship Type="http://schemas.openxmlformats.org/officeDocument/2006/relationships/slideLayout" Target="/ppt/slideLayouts/slideLayout9.xml" Id="R5c9f4a09c00d47a7" /><Relationship Type="http://schemas.openxmlformats.org/officeDocument/2006/relationships/slideLayout" Target="/ppt/slideLayouts/slideLayout10.xml" Id="Rc98674dd9d49489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381000"/>
            <a:ext cx="114300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1000" y="1825625"/>
            <a:ext cx="114300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810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9/8/20XX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678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294A09A9-5501-47C1-A89A-A340965A2BE2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544095d80497c"/>
    <p:sldLayoutId xmlns:r="http://schemas.openxmlformats.org/officeDocument/2006/relationships" id="2147483650" r:id="Rf6d7f48e670d4773"/>
    <p:sldLayoutId xmlns:r="http://schemas.openxmlformats.org/officeDocument/2006/relationships" id="2147483651" r:id="R3883721943964a95"/>
    <p:sldLayoutId xmlns:r="http://schemas.openxmlformats.org/officeDocument/2006/relationships" id="2147483652" r:id="Rb87dc8c4c0304d4c"/>
    <p:sldLayoutId xmlns:r="http://schemas.openxmlformats.org/officeDocument/2006/relationships" id="2147483653" r:id="Rc65f67f2aa5e4a81"/>
    <p:sldLayoutId xmlns:r="http://schemas.openxmlformats.org/officeDocument/2006/relationships" id="2147483654" r:id="R7acd2e2c107b4a26"/>
    <p:sldLayoutId xmlns:r="http://schemas.openxmlformats.org/officeDocument/2006/relationships" id="2147483655" r:id="Rbe7c7940cf56408a"/>
    <p:sldLayoutId xmlns:r="http://schemas.openxmlformats.org/officeDocument/2006/relationships" id="2147483656" r:id="R1349988dce094554"/>
    <p:sldLayoutId xmlns:r="http://schemas.openxmlformats.org/officeDocument/2006/relationships" id="2147483657" r:id="R5c9f4a09c00d47a7"/>
    <p:sldLayoutId xmlns:r="http://schemas.openxmlformats.org/officeDocument/2006/relationships" id="2147483658" r:id="Rc98674dd9d494898"/>
  </p:sldLayoutIdLst>
  <p:hf sldNum="0" hdr="0" ftr="0" dt="0"/>
  <p:txStyles>
    <p:titleStyle>
      <a:lvl1pPr xmlns:a="http://schemas.openxmlformats.org/drawingml/2006/main" algn="l">
        <a:lnSpc>
          <a:spcPct val="8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A4A3A4"/>
          </p15:clr>
        </p15:guide>
        <p15:guide id="2" pos="3840" userDrawn="1">
          <p15:clr>
            <a:srgbClr xmlns:a="http://schemas.openxmlformats.org/drawingml/2006/main" val="A4A3A4"/>
          </p15:clr>
        </p15:guide>
        <p15:guide id="3" pos="240" userDrawn="1">
          <p15:clr>
            <a:srgbClr xmlns:a="http://schemas.openxmlformats.org/drawingml/2006/main" val="547EBF"/>
          </p15:clr>
        </p15:guide>
        <p15:guide id="4" orient="horz" pos="240" userDrawn="1">
          <p15:clr>
            <a:srgbClr xmlns:a="http://schemas.openxmlformats.org/drawingml/2006/main" val="547EBF"/>
          </p15:clr>
        </p15:guide>
        <p15:guide id="5" pos="7440" userDrawn="1">
          <p15:clr>
            <a:srgbClr xmlns:a="http://schemas.openxmlformats.org/drawingml/2006/main" val="547EBF"/>
          </p15:clr>
        </p15:guide>
        <p15:guide id="6" orient="horz" pos="4080" userDrawn="1">
          <p15:clr>
            <a:srgbClr xmlns:a="http://schemas.openxmlformats.org/drawingml/2006/main" val="547EBF"/>
          </p15:clr>
        </p15:guide>
        <p15:guide id="7" pos="3960" userDrawn="1">
          <p15:clr>
            <a:srgbClr xmlns:a="http://schemas.openxmlformats.org/drawingml/2006/main" val="547EBF"/>
          </p15:clr>
        </p15:guide>
        <p15:guide id="8" pos="3720" userDrawn="1">
          <p15:clr>
            <a:srgbClr xmlns:a="http://schemas.openxmlformats.org/drawingml/2006/main" val="547EBF"/>
          </p15:clr>
        </p15:guide>
        <p15:guide id="9" pos="2112" userDrawn="1">
          <p15:clr>
            <a:srgbClr xmlns:a="http://schemas.openxmlformats.org/drawingml/2006/main" val="547EBF"/>
          </p15:clr>
        </p15:guide>
        <p15:guide id="10" pos="1848" userDrawn="1">
          <p15:clr>
            <a:srgbClr xmlns:a="http://schemas.openxmlformats.org/drawingml/2006/main" val="547EBF"/>
          </p15:clr>
        </p15:guide>
        <p15:guide id="11" pos="5568" userDrawn="1">
          <p15:clr>
            <a:srgbClr xmlns:a="http://schemas.openxmlformats.org/drawingml/2006/main" val="547EBF"/>
          </p15:clr>
        </p15:guide>
        <p15:guide id="12" pos="5832" userDrawn="1">
          <p15:clr>
            <a:srgbClr xmlns:a="http://schemas.openxmlformats.org/drawingml/2006/main" val="547EBF"/>
          </p15:clr>
        </p15:guide>
        <p15:guide id="13" pos="4968" userDrawn="1">
          <p15:clr>
            <a:srgbClr xmlns:a="http://schemas.openxmlformats.org/drawingml/2006/main" val="9FCC3B"/>
          </p15:clr>
        </p15:guide>
        <p15:guide id="14" pos="5208" userDrawn="1">
          <p15:clr>
            <a:srgbClr xmlns:a="http://schemas.openxmlformats.org/drawingml/2006/main" val="9FCC3B"/>
          </p15:clr>
        </p15:guide>
        <p15:guide id="15" pos="2712" userDrawn="1">
          <p15:clr>
            <a:srgbClr xmlns:a="http://schemas.openxmlformats.org/drawingml/2006/main" val="9FCC3B"/>
          </p15:clr>
        </p15:guide>
        <p15:guide id="16" pos="2472" userDrawn="1">
          <p15:clr>
            <a:srgbClr xmlns:a="http://schemas.openxmlformats.org/drawingml/2006/main" val="9FCC3B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Universal Color Bloc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b40531774e6c" /><Relationship Type="http://schemas.openxmlformats.org/officeDocument/2006/relationships/image" Target="/ppt/media/image.png" Id="Rbeb7d1f227eb4110" /><Relationship Type="http://schemas.openxmlformats.org/officeDocument/2006/relationships/notesSlide" Target="/ppt/notesSlides/notesSlide1.xml" Id="R51d4828ecdfb44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c788802ad7843d2" /><Relationship Type="http://schemas.openxmlformats.org/officeDocument/2006/relationships/notesSlide" Target="/ppt/notesSlides/notesSlide2.xml" Id="Rbb232359eb5140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f90bfcd6224351" /><Relationship Type="http://schemas.openxmlformats.org/officeDocument/2006/relationships/notesSlide" Target="/ppt/notesSlides/notesSlide3.xml" Id="R5097f54045b441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7602cf38f8640e4" /><Relationship Type="http://schemas.openxmlformats.org/officeDocument/2006/relationships/image" Target="/ppt/media/image2.png" Id="R8d801872e731401e" /><Relationship Type="http://schemas.openxmlformats.org/officeDocument/2006/relationships/notesSlide" Target="/ppt/notesSlides/notesSlide4.xml" Id="R28176b333f6a47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6d0a2814804421d" /><Relationship Type="http://schemas.openxmlformats.org/officeDocument/2006/relationships/image" Target="/ppt/media/image3.png" Id="R00c57356249b4dcf" /><Relationship Type="http://schemas.openxmlformats.org/officeDocument/2006/relationships/notesSlide" Target="/ppt/notesSlides/notesSlide5.xml" Id="Rd41fce8bc3b641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b66e65611b944a0" /><Relationship Type="http://schemas.openxmlformats.org/officeDocument/2006/relationships/image" Target="/ppt/media/image4.png" Id="R57536f0a3275446c" /><Relationship Type="http://schemas.openxmlformats.org/officeDocument/2006/relationships/notesSlide" Target="/ppt/notesSlides/notesSlide6.xml" Id="R75512dedbe194c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56ed4f6c774529" /><Relationship Type="http://schemas.openxmlformats.org/officeDocument/2006/relationships/notesSlide" Target="/ppt/notesSlides/notesSlide7.xml" Id="Re5714f188bb0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335e4f43bce4535" /><Relationship Type="http://schemas.openxmlformats.org/officeDocument/2006/relationships/notesSlide" Target="/ppt/notesSlides/notesSlide8.xml" Id="R10de49de932943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2f00543ef064866" /><Relationship Type="http://schemas.openxmlformats.org/officeDocument/2006/relationships/notesSlide" Target="/ppt/notesSlides/notesSlide9.xml" Id="Rde9f889a7e2542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14a7721b62b4557" /><Relationship Type="http://schemas.openxmlformats.org/officeDocument/2006/relationships/image" Target="/ppt/media/image.png" Id="Rc95e6f2115db45fe" /><Relationship Type="http://schemas.openxmlformats.org/officeDocument/2006/relationships/notesSlide" Target="/ppt/notesSlides/notesSlide10.xml" Id="R5137dc8fdd464f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80389" y="1979629"/>
            <a:ext cx="7060676" cy="22248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400"/>
              <a:t>University Database Analysis Project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AB8F3B8-AE1F-77D0-0624-60D73B30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10" y="5061622"/>
            <a:ext cx="6254684" cy="1529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Presented by: Yasir Awad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Data Analyst | BI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SQL | Python | Power BI</a:t>
            </a:r>
          </a:p>
        </p:txBody>
      </p:sp>
      <p:pic>
        <p:nvPicPr>
          <p:cNvPr id="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7d1f227eb4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1154" y="122549"/>
            <a:ext cx="6369673" cy="24419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2D138E4F-0962-4295-E33B-3D0196250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11" y="450438"/>
            <a:ext cx="9779183" cy="1600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0DDD73-4A53-4291-18C7-02C7ECF93F80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Char char="v"/>
            </a:pPr>
            <a:r>
              <a:rPr b="1"/>
              <a:t>Objective: Build a consistent reporting layer for student success, capacity, prerequisite screening, and teaching quality.</a:t>
            </a:r>
          </a:p>
          <a:p xmlns:a="http://schemas.openxmlformats.org/drawingml/2006/main">
            <a:pPr>
              <a:buChar char="v"/>
            </a:pPr>
            <a:r>
              <a:rPr b="1"/>
              <a:t>Verified Scope:</a:t>
            </a:r>
          </a:p>
          <a:p xmlns:a="http://schemas.openxmlformats.org/drawingml/2006/main">
            <a:pPr>
              <a:buChar char="§"/>
            </a:pPr>
            <a:r>
              <a:t>600 student records | 2,065 enrollments | 61 sections</a:t>
            </a:r>
          </a:p>
          <a:p xmlns:a="http://schemas.openxmlformats.org/drawingml/2006/main">
            <a:pPr>
              <a:buChar char="§"/>
            </a:pPr>
            <a:r>
              <a:t>SQL Server for analysis and validation</a:t>
            </a:r>
          </a:p>
          <a:p xmlns:a="http://schemas.openxmlformats.org/drawingml/2006/main">
            <a:pPr>
              <a:buChar char="§"/>
            </a:pPr>
            <a:r>
              <a:t>Python and Pandas for reconciliation and quality checks</a:t>
            </a:r>
          </a:p>
          <a:p xmlns:a="http://schemas.openxmlformats.org/drawingml/2006/main">
            <a:pPr>
              <a:buChar char="§"/>
            </a:pPr>
            <a:r>
              <a:t>Power BI for management dashboards</a:t>
            </a:r>
          </a:p>
          <a:p xmlns:a="http://schemas.openxmlformats.org/drawingml/2006/main">
            <a:pPr>
              <a:buChar char="v"/>
            </a:pPr>
            <a:r>
              <a:rPr b="1"/>
              <a:t>Deliverables: queries, notebook, dashboard, report,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3627457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9E5512-9B4F-D06F-048D-0013314CC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5261" y="466694"/>
            <a:ext cx="9779183" cy="1600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Database Structure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F4DEF0-78F9-0A54-8208-0A8F8E9E55A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>
              <a:buChar char="q"/>
            </a:pPr>
            <a:r>
              <a:rPr b="1"/>
              <a:t>15 Connected Tables:</a:t>
            </a:r>
          </a:p>
          <a:p xmlns:a="http://schemas.openxmlformats.org/drawingml/2006/main">
            <a:pPr>
              <a:buNone/>
            </a:pPr>
            <a:r>
              <a:rPr b="1"/>
              <a:t>Academic: Departments → Majors → Students</a:t>
            </a:r>
          </a:p>
          <a:p xmlns:a="http://schemas.openxmlformats.org/drawingml/2006/main">
            <a:pPr>
              <a:buNone/>
            </a:pPr>
            <a:r>
              <a:rPr b="1"/>
              <a:t>Teaching: Departments → Professors → Course Offerings</a:t>
            </a:r>
          </a:p>
          <a:p xmlns:a="http://schemas.openxmlformats.org/drawingml/2006/main">
            <a:pPr>
              <a:buNone/>
            </a:pPr>
            <a:r>
              <a:rPr b="1"/>
              <a:t>Curriculum: Courses ↔ Prerequisites</a:t>
            </a:r>
          </a:p>
          <a:p xmlns:a="http://schemas.openxmlformats.org/drawingml/2006/main">
            <a:pPr>
              <a:buNone/>
            </a:pPr>
            <a:r>
              <a:rPr b="1"/>
              <a:t>Delivery: Offerings → Enrollments → Assessment Scores</a:t>
            </a:r>
          </a:p>
          <a:p xmlns:a="http://schemas.openxmlformats.org/drawingml/2006/main">
            <a:pPr>
              <a:buNone/>
            </a:pPr>
            <a:r>
              <a:rPr b="1"/>
              <a:t>Operations: Timeslots ↔ Classrooms ↔ Offerings</a:t>
            </a:r>
          </a:p>
          <a:p xmlns:a="http://schemas.openxmlformats.org/drawingml/2006/main">
            <a:pPr>
              <a:buNone/>
            </a:pPr>
            <a:r>
              <a:rPr b="1"/>
              <a:t>Feedback: Evaluations → Evaluation Summary</a:t>
            </a:r>
          </a:p>
          <a:p xmlns:a="http://schemas.openxmlformats.org/drawingml/2006/main">
            <a:pPr>
              <a:buChar char="q"/>
            </a:pPr>
            <a:r>
              <a:rPr b="1"/>
              <a:t>Core grains: student, enrollment, section, assessment, and response</a:t>
            </a:r>
          </a:p>
        </p:txBody>
      </p:sp>
    </p:spTree>
    <p:extLst>
      <p:ext uri="{BB962C8B-B14F-4D97-AF65-F5344CB8AC3E}">
        <p14:creationId xmlns:p14="http://schemas.microsoft.com/office/powerpoint/2010/main" val="39981916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CF1C6CC6-D3A7-E5A6-4113-5F1823EDD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9876" y="1036948"/>
            <a:ext cx="9779183" cy="7786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1 - Student Success</a:t>
            </a:r>
          </a:p>
        </p:txBody>
      </p:sp>
      <p:pic>
        <p:nvPicPr>
          <p:cNvPr id="10" name="Content Placeholder 9"/>
          <p:cNvPicPr>
            <a:picLocks xmlns:a="http://schemas.openxmlformats.org/drawingml/2006/main" noChangeAspect="1"/>
          </p:cNvPicPr>
          <p:nvPr>
            <p:ph idx="14"/>
          </p:nvPr>
        </p:nvPicPr>
        <p:blipFill>
          <a:blip xmlns:r="http://schemas.openxmlformats.org/officeDocument/2006/relationships" xmlns:a="http://schemas.openxmlformats.org/drawingml/2006/main" r:embed="R8d801872e731401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82804" y="2337847"/>
            <a:ext cx="9059159" cy="4433057"/>
          </a:xfrm>
        </p:spPr>
      </p:pic>
    </p:spTree>
    <p:extLst>
      <p:ext uri="{BB962C8B-B14F-4D97-AF65-F5344CB8AC3E}">
        <p14:creationId xmlns:p14="http://schemas.microsoft.com/office/powerpoint/2010/main" val="27977603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FC635706-1709-3FF6-B529-5A152DD07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962" y="1027521"/>
            <a:ext cx="9779183" cy="7786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2 - Course &amp; Capacity</a:t>
            </a:r>
          </a:p>
        </p:txBody>
      </p:sp>
      <p:pic>
        <p:nvPicPr>
          <p:cNvPr id="10" name="Content Placeholder 9"/>
          <p:cNvPicPr>
            <a:picLocks xmlns:a="http://schemas.openxmlformats.org/drawingml/2006/main" noChangeAspect="1"/>
          </p:cNvPicPr>
          <p:nvPr>
            <p:ph idx="14"/>
          </p:nvPr>
        </p:nvPicPr>
        <p:blipFill>
          <a:blip xmlns:r="http://schemas.openxmlformats.org/officeDocument/2006/relationships" xmlns:a="http://schemas.openxmlformats.org/drawingml/2006/main" r:embed="R00c57356249b4d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82804" y="2347275"/>
            <a:ext cx="9059159" cy="4423630"/>
          </a:xfrm>
        </p:spPr>
      </p:pic>
    </p:spTree>
    <p:extLst>
      <p:ext uri="{BB962C8B-B14F-4D97-AF65-F5344CB8AC3E}">
        <p14:creationId xmlns:p14="http://schemas.microsoft.com/office/powerpoint/2010/main" val="21046815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54E622AB-0384-D008-03CD-EC6927B0E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9876" y="1018095"/>
            <a:ext cx="9779183" cy="7786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3 - Teaching Quality</a:t>
            </a:r>
          </a:p>
        </p:txBody>
      </p:sp>
      <p:pic>
        <p:nvPicPr>
          <p:cNvPr id="10" name="Content Placeholder 9"/>
          <p:cNvPicPr>
            <a:picLocks xmlns:a="http://schemas.openxmlformats.org/drawingml/2006/main" noChangeAspect="1"/>
          </p:cNvPicPr>
          <p:nvPr>
            <p:ph idx="14"/>
          </p:nvPr>
        </p:nvPicPr>
        <p:blipFill>
          <a:blip xmlns:r="http://schemas.openxmlformats.org/officeDocument/2006/relationships" xmlns:a="http://schemas.openxmlformats.org/drawingml/2006/main" r:embed="R57536f0a327544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82804" y="2347275"/>
            <a:ext cx="9059159" cy="4423630"/>
          </a:xfrm>
        </p:spPr>
      </p:pic>
    </p:spTree>
    <p:extLst>
      <p:ext uri="{BB962C8B-B14F-4D97-AF65-F5344CB8AC3E}">
        <p14:creationId xmlns:p14="http://schemas.microsoft.com/office/powerpoint/2010/main" val="2527343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CDD25EE5-E7FE-3838-D709-E024D0570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6406" y="251451"/>
            <a:ext cx="9779183" cy="1600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findings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98259FF-C6C7-1B49-C8EF-CB0C947E0980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986978" y="2547377"/>
            <a:ext cx="9780587" cy="4059172"/>
          </a:xfrm>
        </p:spPr>
        <p:txBody>
          <a:bodyPr xmlns:a="http://schemas.openxmlformats.org/drawingml/2006/main">
            <a:normAutofit fontScale="88531"/>
          </a:bodyPr>
          <a:lstStyle xmlns:a="http://schemas.openxmlformats.org/drawingml/2006/main"/>
          <a:p xmlns:a="http://schemas.openxmlformats.org/drawingml/2006/main">
            <a:pPr>
              <a:buChar char="Ø"/>
            </a:pPr>
            <a:r>
              <a:rPr sz="2400" b="1"/>
              <a:t>Student Outcomes: 2,065 enrollments average 73.90; the A-D pass rate is 87.36%.</a:t>
            </a:r>
          </a:p>
          <a:p xmlns:a="http://schemas.openxmlformats.org/drawingml/2006/main">
            <a:pPr>
              <a:buChar char="Ø"/>
            </a:pPr>
            <a:r>
              <a:rPr sz="2400" b="1"/>
              <a:t>Grade Mix: A-C outcomes represent 60.77% of enrollment records.</a:t>
            </a:r>
          </a:p>
          <a:p xmlns:a="http://schemas.openxmlformats.org/drawingml/2006/main">
            <a:pPr>
              <a:buChar char="Ø"/>
            </a:pPr>
            <a:r>
              <a:rPr sz="2400" b="1"/>
              <a:t>Prerequisite Screen: 203 enrollment exceptions affect 183 students; registrar review is required.</a:t>
            </a:r>
          </a:p>
          <a:p xmlns:a="http://schemas.openxmlformats.org/drawingml/2006/main">
            <a:pPr>
              <a:buChar char="Ø"/>
            </a:pPr>
            <a:r>
              <a:rPr sz="2400" b="1"/>
              <a:t>Capacity: 3,137 section seats across 61 sections produce 65.83% weighted utilization.</a:t>
            </a:r>
          </a:p>
          <a:p xmlns:a="http://schemas.openxmlformats.org/drawingml/2006/main">
            <a:pPr>
              <a:buChar char="Ø"/>
            </a:pPr>
            <a:r>
              <a:rPr sz="2400" b="1"/>
              <a:t>Teaching: 1,499 evaluations achieve a 72.59% weighted response rate and 3.98/5 average.</a:t>
            </a:r>
          </a:p>
          <a:p xmlns:a="http://schemas.openxmlformats.org/drawingml/2006/main">
            <a:pPr>
              <a:buChar char="Ø"/>
            </a:pPr>
            <a:r>
              <a:rPr sz="2400" b="1"/>
              <a:t>Relationship: Offering-level evaluation and final-score averages have a correlation of about 0.64.</a:t>
            </a:r>
          </a:p>
        </p:txBody>
      </p:sp>
    </p:spTree>
    <p:extLst>
      <p:ext uri="{BB962C8B-B14F-4D97-AF65-F5344CB8AC3E}">
        <p14:creationId xmlns:p14="http://schemas.microsoft.com/office/powerpoint/2010/main" val="27347805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CAFAD8D-623B-576B-C7FF-B1265AA6E6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67491" y="441010"/>
            <a:ext cx="9779183" cy="1600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Risks / Quality Issues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90CCA7-D496-FDA8-6312-A3D67DC3826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Ø"/>
            </a:pPr>
            <a:r>
              <a:t>Prerequisite chronology cannot be proven: only Fall 2025 offerings are available, with no transfer-credit, waiver, or equivalency records.</a:t>
            </a:r>
          </a:p>
          <a:p xmlns:a="http://schemas.openxmlformats.org/drawingml/2006/main">
            <a:pPr>
              <a:lnSpc>
                <a:spcPct val="150000"/>
              </a:lnSpc>
              <a:buChar char="Ø"/>
            </a:pPr>
            <a:r>
              <a:t>Two enrollment records have missing final_score and are excluded from the average.</a:t>
            </a:r>
          </a:p>
          <a:p xmlns:a="http://schemas.openxmlformats.org/drawingml/2006/main">
            <a:pPr>
              <a:lnSpc>
                <a:spcPct val="150000"/>
              </a:lnSpc>
              <a:buChar char="Ø"/>
            </a:pPr>
            <a:r>
              <a:t>Major labels are anonymized; keep student, enrollment, section, and evaluation grains separate.</a:t>
            </a:r>
          </a:p>
        </p:txBody>
      </p:sp>
    </p:spTree>
    <p:extLst>
      <p:ext uri="{BB962C8B-B14F-4D97-AF65-F5344CB8AC3E}">
        <p14:creationId xmlns:p14="http://schemas.microsoft.com/office/powerpoint/2010/main" val="7623476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BE4C6058-FCB6-713A-0BF7-6F38E26C31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469" y="327889"/>
            <a:ext cx="9779183" cy="1600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F06870-D269-24BC-EF92-E617D064E7E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14779" y="2201084"/>
            <a:ext cx="10267945" cy="466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509778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Ø"/>
            </a:pPr>
            <a:r>
              <a:rPr b="1" i="0" u="none" cap="none">
                <a:ln>
                  <a:noFill/>
                </a:ln>
              </a:rPr>
              <a:t>Review Prerequisites - Validate the 203 exception enrollments with the registrar before action.</a:t>
            </a:r>
          </a:p>
          <a:p xmlns:a="http://schemas.openxmlformats.org/drawingml/2006/main">
            <a:pPr marL="509778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Ø"/>
            </a:pPr>
            <a:r>
              <a:rPr b="1" i="0" u="none" cap="none">
                <a:ln>
                  <a:noFill/>
                </a:ln>
              </a:rPr>
              <a:t>Manage Capacity - Consolidate low-demand sections and protect capacity in high-demand courses.</a:t>
            </a:r>
          </a:p>
          <a:p xmlns:a="http://schemas.openxmlformats.org/drawingml/2006/main">
            <a:pPr marL="509778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Ø"/>
            </a:pPr>
            <a:r>
              <a:rPr b="1" i="0" u="none" cap="none">
                <a:ln>
                  <a:noFill/>
                </a:ln>
              </a:rPr>
              <a:t>Separate Grains - Track distinct students separately from enrollment outcomes in Power BI.</a:t>
            </a:r>
          </a:p>
          <a:p xmlns:a="http://schemas.openxmlformats.org/drawingml/2006/main">
            <a:pPr marL="509778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Ø"/>
            </a:pPr>
            <a:r>
              <a:rPr b="1" i="0" u="none" cap="none">
                <a:ln>
                  <a:noFill/>
                </a:ln>
              </a:rPr>
              <a:t>Qualify Teaching Results - Show response volume and require at least 20 responses for rankings.</a:t>
            </a:r>
          </a:p>
          <a:p xmlns:a="http://schemas.openxmlformats.org/drawingml/2006/main">
            <a:pPr marL="509778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Ø"/>
            </a:pPr>
            <a:r>
              <a:rPr b="1" i="0" u="none" cap="none">
                <a:ln>
                  <a:noFill/>
                </a:ln>
              </a:rPr>
              <a:t>Govern the Release - Reconcile SQL, Python, and Power BI before each reporting cycle.</a:t>
            </a:r>
          </a:p>
        </p:txBody>
      </p:sp>
    </p:spTree>
    <p:extLst>
      <p:ext uri="{BB962C8B-B14F-4D97-AF65-F5344CB8AC3E}">
        <p14:creationId xmlns:p14="http://schemas.microsoft.com/office/powerpoint/2010/main" val="33078262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67494" y="252549"/>
            <a:ext cx="6220278" cy="32628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67493" y="3685939"/>
            <a:ext cx="6220277" cy="29195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Yasir Awad</a:t>
            </a:r>
          </a:p>
          <a:p xmlns:a="http://schemas.openxmlformats.org/drawingml/2006/main">
            <a:r>
              <a:t>Data Analyst | Business Intelligence</a:t>
            </a:r>
          </a:p>
          <a:p xmlns:a="http://schemas.openxmlformats.org/drawingml/2006/main">
            <a:r>
              <a:t>yasir.petro.analytics@outlook.com</a:t>
            </a:r>
          </a:p>
          <a:p xmlns:a="http://schemas.openxmlformats.org/drawingml/2006/main">
            <a:r>
              <a:t>github.com/Yasir101-hi</a:t>
            </a: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e6f2115db45f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9631" y="95072"/>
            <a:ext cx="6096000" cy="23370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Universal Color Bloc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2026-07-22T23:48:33.7410000Z</dcterms:created>
  <dcterms:modified xsi:type="dcterms:W3CDTF">2026-07-22T23:48:33.7410000Z</dcterms:modified>
</coreProperties>
</file>